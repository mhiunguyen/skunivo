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cd5c54da1f40a8" /><Relationship Type="http://schemas.openxmlformats.org/officeDocument/2006/relationships/extended-properties" Target="/docProps/app.xml" Id="Re6ce567cf7144fda" /><Relationship Type="http://schemas.openxmlformats.org/officeDocument/2006/relationships/officeDocument" Target="/ppt/presentation.xml" Id="R618a80ea131d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b2c16ba6c4967"/>
  </p:sldMasterIdLst>
  <p:notesMasterIdLst>
    <p:notesMasterId xmlns:r="http://schemas.openxmlformats.org/officeDocument/2006/relationships" r:id="R4263bbf58e2c4b90"/>
  </p:notesMasterIdLst>
  <p:sldIdLst>
    <p:sldId xmlns:r="http://schemas.openxmlformats.org/officeDocument/2006/relationships" id="256" r:id="Rfd16a118afab4be7"/>
    <p:sldId xmlns:r="http://schemas.openxmlformats.org/officeDocument/2006/relationships" id="257" r:id="R5e54e5b591f1473e"/>
    <p:sldId xmlns:r="http://schemas.openxmlformats.org/officeDocument/2006/relationships" id="258" r:id="Rf961c1f0c78d49ed"/>
    <p:sldId xmlns:r="http://schemas.openxmlformats.org/officeDocument/2006/relationships" id="259" r:id="Rf3cfbf60933249bf"/>
    <p:sldId xmlns:r="http://schemas.openxmlformats.org/officeDocument/2006/relationships" id="260" r:id="Ra45b75eda6844588"/>
    <p:sldId xmlns:r="http://schemas.openxmlformats.org/officeDocument/2006/relationships" id="261" r:id="R4a42b466659843b5"/>
    <p:sldId xmlns:r="http://schemas.openxmlformats.org/officeDocument/2006/relationships" id="262" r:id="Rc51493d6fce94d6c"/>
    <p:sldId xmlns:r="http://schemas.openxmlformats.org/officeDocument/2006/relationships" id="263" r:id="R17c79d8675bd4cf2"/>
    <p:sldId xmlns:r="http://schemas.openxmlformats.org/officeDocument/2006/relationships" id="264" r:id="R37d484a43ffd4ab0"/>
    <p:sldId xmlns:r="http://schemas.openxmlformats.org/officeDocument/2006/relationships" id="265" r:id="R337e301a98fb4c07"/>
    <p:sldId xmlns:r="http://schemas.openxmlformats.org/officeDocument/2006/relationships" id="266" r:id="Rfab0f4d649c543e6"/>
    <p:sldId xmlns:r="http://schemas.openxmlformats.org/officeDocument/2006/relationships" id="267" r:id="R5d97b89bbf4b4015"/>
    <p:sldId xmlns:r="http://schemas.openxmlformats.org/officeDocument/2006/relationships" id="268" r:id="R2199dfb723cb4ce3"/>
    <p:sldId xmlns:r="http://schemas.openxmlformats.org/officeDocument/2006/relationships" id="269" r:id="Refbe0abb386a4e65"/>
    <p:sldId xmlns:r="http://schemas.openxmlformats.org/officeDocument/2006/relationships" id="270" r:id="Rab7ab32dc96644be"/>
    <p:sldId xmlns:r="http://schemas.openxmlformats.org/officeDocument/2006/relationships" id="271" r:id="R4df9d3195e0e4e35"/>
    <p:sldId xmlns:r="http://schemas.openxmlformats.org/officeDocument/2006/relationships" id="272" r:id="Rb4eab024475145d8"/>
    <p:sldId xmlns:r="http://schemas.openxmlformats.org/officeDocument/2006/relationships" id="273" r:id="R6c8d86a9ef854a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d13d6f11ee4761" /><Relationship Type="http://schemas.openxmlformats.org/officeDocument/2006/relationships/slideMaster" Target="/ppt/slideMasters/slideMaster1.xml" Id="R464b2c16ba6c4967" /><Relationship Type="http://schemas.openxmlformats.org/officeDocument/2006/relationships/notesMaster" Target="/ppt/notesMasters/notesMaster1.xml" Id="R4263bbf58e2c4b90" /><Relationship Type="http://schemas.openxmlformats.org/officeDocument/2006/relationships/presProps" Target="/ppt/presProps.xml" Id="R2a5d74cb4bec4669" /><Relationship Type="http://schemas.openxmlformats.org/officeDocument/2006/relationships/tableStyles" Target="/ppt/tableStyles.xml" Id="Rd772f12e9b8b4873" /><Relationship Type="http://schemas.openxmlformats.org/officeDocument/2006/relationships/slide" Target="/ppt/slides/slide1.xml" Id="Rfd16a118afab4be7" /><Relationship Type="http://schemas.openxmlformats.org/officeDocument/2006/relationships/slide" Target="/ppt/slides/slide2.xml" Id="R5e54e5b591f1473e" /><Relationship Type="http://schemas.openxmlformats.org/officeDocument/2006/relationships/slide" Target="/ppt/slides/slide3.xml" Id="Rf961c1f0c78d49ed" /><Relationship Type="http://schemas.openxmlformats.org/officeDocument/2006/relationships/slide" Target="/ppt/slides/slide4.xml" Id="Rf3cfbf60933249bf" /><Relationship Type="http://schemas.openxmlformats.org/officeDocument/2006/relationships/slide" Target="/ppt/slides/slide5.xml" Id="Ra45b75eda6844588" /><Relationship Type="http://schemas.openxmlformats.org/officeDocument/2006/relationships/slide" Target="/ppt/slides/slide6.xml" Id="R4a42b466659843b5" /><Relationship Type="http://schemas.openxmlformats.org/officeDocument/2006/relationships/slide" Target="/ppt/slides/slide7.xml" Id="Rc51493d6fce94d6c" /><Relationship Type="http://schemas.openxmlformats.org/officeDocument/2006/relationships/slide" Target="/ppt/slides/slide8.xml" Id="R17c79d8675bd4cf2" /><Relationship Type="http://schemas.openxmlformats.org/officeDocument/2006/relationships/slide" Target="/ppt/slides/slide9.xml" Id="R37d484a43ffd4ab0" /><Relationship Type="http://schemas.openxmlformats.org/officeDocument/2006/relationships/slide" Target="/ppt/slides/slide10.xml" Id="R337e301a98fb4c07" /><Relationship Type="http://schemas.openxmlformats.org/officeDocument/2006/relationships/slide" Target="/ppt/slides/slide11.xml" Id="Rfab0f4d649c543e6" /><Relationship Type="http://schemas.openxmlformats.org/officeDocument/2006/relationships/slide" Target="/ppt/slides/slide12.xml" Id="R5d97b89bbf4b4015" /><Relationship Type="http://schemas.openxmlformats.org/officeDocument/2006/relationships/slide" Target="/ppt/slides/slide13.xml" Id="R2199dfb723cb4ce3" /><Relationship Type="http://schemas.openxmlformats.org/officeDocument/2006/relationships/slide" Target="/ppt/slides/slide14.xml" Id="Refbe0abb386a4e65" /><Relationship Type="http://schemas.openxmlformats.org/officeDocument/2006/relationships/slide" Target="/ppt/slides/slide15.xml" Id="Rab7ab32dc96644be" /><Relationship Type="http://schemas.openxmlformats.org/officeDocument/2006/relationships/slide" Target="/ppt/slides/slide16.xml" Id="R4df9d3195e0e4e35" /><Relationship Type="http://schemas.openxmlformats.org/officeDocument/2006/relationships/slide" Target="/ppt/slides/slide17.xml" Id="Rb4eab024475145d8" /><Relationship Type="http://schemas.openxmlformats.org/officeDocument/2006/relationships/slide" Target="/ppt/slides/slide18.xml" Id="R6c8d86a9ef854a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ab7ce5188f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80fb17fc4425a" /><Relationship Type="http://schemas.openxmlformats.org/officeDocument/2006/relationships/notesMaster" Target="/ppt/notesMasters/notesMaster1.xml" Id="R38561b64e3b34c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1014e62d48495a" /><Relationship Type="http://schemas.openxmlformats.org/officeDocument/2006/relationships/notesMaster" Target="/ppt/notesMasters/notesMaster1.xml" Id="R86d4608ee8b244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0d749de25d4362" /><Relationship Type="http://schemas.openxmlformats.org/officeDocument/2006/relationships/notesMaster" Target="/ppt/notesMasters/notesMaster1.xml" Id="R65847c8b26ee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db3548b28b42bf" /><Relationship Type="http://schemas.openxmlformats.org/officeDocument/2006/relationships/notesMaster" Target="/ppt/notesMasters/notesMaster1.xml" Id="R82a26ab5976a41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335a14226a49f5" /><Relationship Type="http://schemas.openxmlformats.org/officeDocument/2006/relationships/notesMaster" Target="/ppt/notesMasters/notesMaster1.xml" Id="Rf995323b5c9445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45bda5a8064806" /><Relationship Type="http://schemas.openxmlformats.org/officeDocument/2006/relationships/notesMaster" Target="/ppt/notesMasters/notesMaster1.xml" Id="R85951f43ed4d42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9bd431d2f342ed" /><Relationship Type="http://schemas.openxmlformats.org/officeDocument/2006/relationships/notesMaster" Target="/ppt/notesMasters/notesMaster1.xml" Id="Rd5053d3adad44b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dfd8f654fc48a6" /><Relationship Type="http://schemas.openxmlformats.org/officeDocument/2006/relationships/notesMaster" Target="/ppt/notesMasters/notesMaster1.xml" Id="R62ea4b85418b40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9f419d375b4782" /><Relationship Type="http://schemas.openxmlformats.org/officeDocument/2006/relationships/notesMaster" Target="/ppt/notesMasters/notesMaster1.xml" Id="Re9cd1e90545e42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933377ba1a46cf" /><Relationship Type="http://schemas.openxmlformats.org/officeDocument/2006/relationships/notesMaster" Target="/ppt/notesMasters/notesMaster1.xml" Id="R3a925b7ff4b541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ffb5caeee94947" /><Relationship Type="http://schemas.openxmlformats.org/officeDocument/2006/relationships/notesMaster" Target="/ppt/notesMasters/notesMaster1.xml" Id="R2c41abf8dea248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a7ed355f894f33" /><Relationship Type="http://schemas.openxmlformats.org/officeDocument/2006/relationships/notesMaster" Target="/ppt/notesMasters/notesMaster1.xml" Id="R3826ab8090fc47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ddd2bd56984f98" /><Relationship Type="http://schemas.openxmlformats.org/officeDocument/2006/relationships/notesMaster" Target="/ppt/notesMasters/notesMaster1.xml" Id="Rf0cdcd3ab02a40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4dc5d79eda40e0" /><Relationship Type="http://schemas.openxmlformats.org/officeDocument/2006/relationships/notesMaster" Target="/ppt/notesMasters/notesMaster1.xml" Id="R77a3ebf34ad94f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4b7ca7b8c14e6c" /><Relationship Type="http://schemas.openxmlformats.org/officeDocument/2006/relationships/notesMaster" Target="/ppt/notesMasters/notesMaster1.xml" Id="Rc6caf67656a145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effb127bbb4499" /><Relationship Type="http://schemas.openxmlformats.org/officeDocument/2006/relationships/notesMaster" Target="/ppt/notesMasters/notesMaster1.xml" Id="R9ef4987f3dd24e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01987f14c64399" /><Relationship Type="http://schemas.openxmlformats.org/officeDocument/2006/relationships/notesMaster" Target="/ppt/notesMasters/notesMaster1.xml" Id="Rd670f7779c6041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c0ba4329e24b0d" /><Relationship Type="http://schemas.openxmlformats.org/officeDocument/2006/relationships/notesMaster" Target="/ppt/notesMasters/notesMaster1.xml" Id="R63ce9bec071843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D:/YOUNGHTT/README.md</a:t>
            </a:r>
          </a:p>
          <a:p xmlns:a="http://schemas.openxmlformats.org/drawingml/2006/main">
            <a:r>
              <a:t>- D:/YOUNGHTT/assets/branding/skunivo-logo-final-on-dark.png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D:/YOUNGHTT/outputs/product_recommendations.csv</a:t>
            </a:r>
          </a:p>
          <a:p xmlns:a="http://schemas.openxmlformats.org/drawingml/2006/main">
            <a:r>
              <a:t>- D:/YOUNGHTT/outputs/processed_latest_products.csv</a:t>
            </a:r>
          </a:p>
          <a:p xmlns:a="http://schemas.openxmlformats.org/drawingml/2006/main">
            <a:r>
              <a:t>- D:/YOUNGHTT/README_MVP.md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D:/YOUNGHTT/outputs/processed_latest_products.csv</a:t>
            </a:r>
          </a:p>
          <a:p xmlns:a="http://schemas.openxmlformats.org/drawingml/2006/main">
            <a:r>
              <a:t>- D:/YOUNGHTT/README_MVP.md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D:/YOUNGHTT/README.md</a:t>
            </a:r>
          </a:p>
          <a:p xmlns:a="http://schemas.openxmlformats.org/drawingml/2006/main">
            <a:r>
              <a:t>- D:/YOUNGHTT/README_MVP.md</a:t>
            </a:r>
          </a:p>
          <a:p xmlns:a="http://schemas.openxmlformats.org/drawingml/2006/main">
            <a:r>
              <a:t>- D:/YOUNGHTT/outputs/processed_latest_products.csv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D:/YOUNGHTT/outputs/product_recommendations.csv</a:t>
            </a:r>
          </a:p>
          <a:p xmlns:a="http://schemas.openxmlformats.org/drawingml/2006/main">
            <a:r>
              <a:t>- D:/YOUNGHTT/outputs/processed_latest_products.csv</a:t>
            </a:r>
          </a:p>
          <a:p xmlns:a="http://schemas.openxmlformats.org/drawingml/2006/main">
            <a:r>
              <a:t>- D:/YOUNGHTT/outputs/model_metrics.csv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D:/YOUNGHTT/README_MVP.md</a:t>
            </a:r>
          </a:p>
          <a:p xmlns:a="http://schemas.openxmlformats.org/drawingml/2006/main">
            <a:r>
              <a:t>- D:/YOUNGHTT/app.py</a:t>
            </a:r>
          </a:p>
          <a:p xmlns:a="http://schemas.openxmlformats.org/drawingml/2006/main">
            <a:r>
              <a:t>- D:/YOUNGHTT/app_components/decision_log.py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D:/YOUNGHTT/outputs/product_recommendations.csv</a:t>
            </a:r>
          </a:p>
          <a:p xmlns:a="http://schemas.openxmlformats.org/drawingml/2006/main">
            <a:r>
              <a:t>- D:/YOUNGHTT/outputs/charts/02_recommendation_label_distribution.png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D:/YOUNGHTT/app_components/recommendation_ui.py</a:t>
            </a:r>
          </a:p>
          <a:p xmlns:a="http://schemas.openxmlformats.org/drawingml/2006/main">
            <a:r>
              <a:t>- D:/YOUNGHTT/.tmp_presentation/assets/app-whatif.png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D:/YOUNGHTT/outputs/product_recommendations.csv — item_id 46658961924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D:/YOUNGHTT/outputs/product_recommendations.csv</a:t>
            </a:r>
          </a:p>
          <a:p xmlns:a="http://schemas.openxmlformats.org/drawingml/2006/main">
            <a:r>
              <a:t>- D:/YOUNGHTT/outputs/charts/05_discount_vs_peer_response.png</a:t>
            </a:r>
          </a:p>
          <a:p xmlns:a="http://schemas.openxmlformats.org/drawingml/2006/main">
            <a:r>
              <a:t>- D:/YOUNGHTT/README_MVP.md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D:/YOUNGHTT/.tmp_presentation/assets/app-explanation.png</a:t>
            </a:r>
          </a:p>
          <a:p xmlns:a="http://schemas.openxmlformats.org/drawingml/2006/main">
            <a:r>
              <a:t>- D:/YOUNGHTT/app_components/decision_log.py</a:t>
            </a:r>
          </a:p>
          <a:p xmlns:a="http://schemas.openxmlformats.org/drawingml/2006/main">
            <a:r>
              <a:t>- D:/YOUNGHTT/app_components/ai_benchmark.py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D:/YOUNGHTT/README_MVP.md</a:t>
            </a:r>
          </a:p>
          <a:p xmlns:a="http://schemas.openxmlformats.org/drawingml/2006/main">
            <a:r>
              <a:t>- D:/YOUNGHTT/outputs/model_metrics.csv</a:t>
            </a:r>
          </a:p>
          <a:p xmlns:a="http://schemas.openxmlformats.org/drawingml/2006/main">
            <a:r>
              <a:t>- D:/YOUNGHTT/app_components/ai_benchmark.py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D:/YOUNGHTT/outputs/model_metrics.csv</a:t>
            </a:r>
          </a:p>
          <a:p xmlns:a="http://schemas.openxmlformats.org/drawingml/2006/main">
            <a:r>
              <a:t>- D:/YOUNGHTT/outputs/charts/07_model_baseline_comparison.png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D:/YOUNGHTT/outputs/score_sensitivity.csv</a:t>
            </a:r>
          </a:p>
          <a:p xmlns:a="http://schemas.openxmlformats.org/drawingml/2006/main">
            <a:r>
              <a:t>- D:/YOUNGHTT/outputs/charts/08_score_weight_sensitivity.png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D:/YOUNGHTT/README_MVP.md</a:t>
            </a:r>
          </a:p>
          <a:p xmlns:a="http://schemas.openxmlformats.org/drawingml/2006/main">
            <a:r>
              <a:t>- D:/YOUNGHTT/app_components/decision_log.py</a:t>
            </a:r>
          </a:p>
          <a:p xmlns:a="http://schemas.openxmlformats.org/drawingml/2006/main">
            <a:r>
              <a:t>- D:/YOUNGHTT/app_components/feedback.py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D:/YOUNGHTT/.tmp_presentation/assets/app-home.png</a:t>
            </a:r>
          </a:p>
          <a:p xmlns:a="http://schemas.openxmlformats.org/drawingml/2006/main">
            <a:r>
              <a:t>- https://skunivo.streamlit.app/</a:t>
            </a:r>
          </a:p>
          <a:p xmlns:a="http://schemas.openxmlformats.org/drawingml/2006/main">
            <a:r>
              <a:t>- D:/YOUNGHTT/README_MVP.md</a:t>
            </a:r>
          </a:p>
          <a:p xmlns:a="http://schemas.openxmlformats.org/drawingml/2006/main">
            <a:r>
              <a:t>- D:/YOUNGHTT/deployment/google_apps_script.gs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D:/YOUNGHTT/README_MVP.md</a:t>
            </a:r>
          </a:p>
          <a:p xmlns:a="http://schemas.openxmlformats.org/drawingml/2006/main">
            <a:r>
              <a:t>- D:/YOUNGHTT/app_components/decision_log.py</a:t>
            </a:r>
          </a:p>
          <a:p xmlns:a="http://schemas.openxmlformats.org/drawingml/2006/main">
            <a:r>
              <a:t>- D:/YOUNGHTT/app_components/feedback.py</a:t>
            </a:r>
          </a:p>
          <a:p xmlns:a="http://schemas.openxmlformats.org/drawingml/2006/main">
            <a:r>
              <a:t>- Proposed success thresholds are Team YOUNGHTT pilot design assumptions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D:/YOUNGHTT/README.md</a:t>
            </a:r>
          </a:p>
          <a:p xmlns:a="http://schemas.openxmlformats.org/drawingml/2006/main">
            <a:r>
              <a:t>- D:/YOUNGHTT/README_MVP.md</a:t>
            </a:r>
          </a:p>
          <a:p xmlns:a="http://schemas.openxmlformats.org/drawingml/2006/main">
            <a:r>
              <a:t>- https://skunivo.streamlit.app/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29a13d75148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6067e3db604e1f" /><Relationship Type="http://schemas.openxmlformats.org/officeDocument/2006/relationships/slideLayout" Target="/ppt/slideLayouts/slideLayout1.xml" Id="R107aac62746244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7aac627462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7762865e64f0a" /><Relationship Type="http://schemas.openxmlformats.org/officeDocument/2006/relationships/image" Target="/ppt/media/image.png" Id="R5f581895d3c64900" /><Relationship Type="http://schemas.openxmlformats.org/officeDocument/2006/relationships/notesSlide" Target="/ppt/notesSlides/notesSlide1.xml" Id="R437c1f17d61a44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4fb2fe47b40ad" /><Relationship Type="http://schemas.openxmlformats.org/officeDocument/2006/relationships/notesSlide" Target="/ppt/notesSlides/notesSlide2.xml" Id="Radce04d5499444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00e6b4864eeb" /><Relationship Type="http://schemas.openxmlformats.org/officeDocument/2006/relationships/notesSlide" Target="/ppt/notesSlides/notesSlide3.xml" Id="R5f1d5ea3af4e43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56d587dfd42a2" /><Relationship Type="http://schemas.openxmlformats.org/officeDocument/2006/relationships/notesSlide" Target="/ppt/notesSlides/notesSlide4.xml" Id="Rb8be9b3f49334f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7c953c72b4775" /><Relationship Type="http://schemas.openxmlformats.org/officeDocument/2006/relationships/notesSlide" Target="/ppt/notesSlides/notesSlide5.xml" Id="Rd77eb882eda741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d2344f1d54cad" /><Relationship Type="http://schemas.openxmlformats.org/officeDocument/2006/relationships/notesSlide" Target="/ppt/notesSlides/notesSlide6.xml" Id="R3a7f52dff4f349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8e77555454037" /><Relationship Type="http://schemas.openxmlformats.org/officeDocument/2006/relationships/image" Target="/ppt/media/image2.png" Id="R42269085da2b4a92" /><Relationship Type="http://schemas.openxmlformats.org/officeDocument/2006/relationships/notesSlide" Target="/ppt/notesSlides/notesSlide7.xml" Id="R2f59dc51ee0e4e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b1d70b085434e" /><Relationship Type="http://schemas.openxmlformats.org/officeDocument/2006/relationships/image" Target="/ppt/media/image.jpeg" Id="Rac597e46493f49c7" /><Relationship Type="http://schemas.openxmlformats.org/officeDocument/2006/relationships/notesSlide" Target="/ppt/notesSlides/notesSlide8.xml" Id="Re5141bb8343c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d70fa56aa4b46" /><Relationship Type="http://schemas.openxmlformats.org/officeDocument/2006/relationships/notesSlide" Target="/ppt/notesSlides/notesSlide9.xml" Id="Rf1d2bd47c8f045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acaa3d19e449b" /><Relationship Type="http://schemas.openxmlformats.org/officeDocument/2006/relationships/image" Target="/ppt/media/image3.png" Id="R1a4217aad88e4bf3" /><Relationship Type="http://schemas.openxmlformats.org/officeDocument/2006/relationships/notesSlide" Target="/ppt/notesSlides/notesSlide10.xml" Id="R4c45cb68ad934b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8da691f2a4e4f" /><Relationship Type="http://schemas.openxmlformats.org/officeDocument/2006/relationships/image" Target="/ppt/media/image2.jpeg" Id="Refc1899e41b34de5" /><Relationship Type="http://schemas.openxmlformats.org/officeDocument/2006/relationships/notesSlide" Target="/ppt/notesSlides/notesSlide11.xml" Id="Ra99189d3076945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6af006a3b4a7c" /><Relationship Type="http://schemas.openxmlformats.org/officeDocument/2006/relationships/notesSlide" Target="/ppt/notesSlides/notesSlide12.xml" Id="Rece781d5587041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a238236184147" /><Relationship Type="http://schemas.openxmlformats.org/officeDocument/2006/relationships/image" Target="/ppt/media/image4.png" Id="Rf046d8c3d8f04f22" /><Relationship Type="http://schemas.openxmlformats.org/officeDocument/2006/relationships/notesSlide" Target="/ppt/notesSlides/notesSlide13.xml" Id="Rfc041e4b482243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8594219d14bb0" /><Relationship Type="http://schemas.openxmlformats.org/officeDocument/2006/relationships/image" Target="/ppt/media/image5.png" Id="Rfc6b9f22f86d4b13" /><Relationship Type="http://schemas.openxmlformats.org/officeDocument/2006/relationships/notesSlide" Target="/ppt/notesSlides/notesSlide14.xml" Id="R1ee264dfe7d74f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4653008f0483b" /><Relationship Type="http://schemas.openxmlformats.org/officeDocument/2006/relationships/notesSlide" Target="/ppt/notesSlides/notesSlide15.xml" Id="R150c7d4c0d664c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d002e974945d3" /><Relationship Type="http://schemas.openxmlformats.org/officeDocument/2006/relationships/image" Target="/ppt/media/image3.jpeg" Id="Racdd7754936a4de4" /><Relationship Type="http://schemas.openxmlformats.org/officeDocument/2006/relationships/notesSlide" Target="/ppt/notesSlides/notesSlide16.xml" Id="R2adb027bc9e747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ac94fd7cc4a54" /><Relationship Type="http://schemas.openxmlformats.org/officeDocument/2006/relationships/notesSlide" Target="/ppt/notesSlides/notesSlide17.xml" Id="Rd1530dc3bde849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554511c894d60" /><Relationship Type="http://schemas.openxmlformats.org/officeDocument/2006/relationships/image" Target="/ppt/media/image6.png" Id="R0732f9cc74114850" /><Relationship Type="http://schemas.openxmlformats.org/officeDocument/2006/relationships/notesSlide" Target="/ppt/notesSlides/notesSlide18.xml" Id="R8eb81617b6cb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D080A-681C-406C-AFDC-4A6B0AD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E2455-1D07-4334-957E-2FD8CA97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4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81895d3c64900"/>
          <a:stretch xmlns:a="http://schemas.openxmlformats.org/drawingml/2006/main"/>
        </p:blipFill>
        <p:spPr>
          <a:xfrm xmlns:a="http://schemas.openxmlformats.org/drawingml/2006/main">
            <a:off x="691753" y="552450"/>
            <a:ext cx="3988594" cy="1276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BC2C8-713E-4D6D-AFEE-AD1ACF08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436"/>
                </a:solidFill>
              </a:defRPr>
            </a:pPr>
            <a:r>
              <a:rPr sz="1125" b="1">
                <a:solidFill>
                  <a:srgbClr val="C8F436"/>
                </a:solidFill>
              </a:rPr>
              <a:t>EXPLAINABLE E-COMMERCE DECISION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70C3D-1298-44FA-B32B-B1AA1B5A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81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Make the next product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decision explainable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D472E-DC13-4632-8152-1A5F05B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6D4"/>
                </a:solidFill>
              </a:defRPr>
            </a:pPr>
            <a:r>
              <a:rPr sz="1650" b="0">
                <a:solidFill>
                  <a:srgbClr val="B8C6D4"/>
                </a:solidFill>
              </a:rPr>
              <a:t>A four-week pilot proposal for marketplace merchandising teams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66959-11F8-4DE3-89E8-A312BF02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 YOUNGHTT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E5218-A42B-4BA7-9E4D-E017CAAE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FC1"/>
                </a:solidFill>
              </a:defRPr>
            </a:pPr>
            <a:r>
              <a:rPr sz="1050" b="0">
                <a:solidFill>
                  <a:srgbClr val="9DAFC1"/>
                </a:solidFill>
              </a:rPr>
              <a:t>AREA 303 · TRACK 1 · TOPIC 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4ED53-CCE9-4AC2-8589-203CB1BE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28700"/>
            <a:ext cx="1428750" cy="1428750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0C2137"/>
          </a:solidFill>
          <a:ln xmlns:a="http://schemas.openxmlformats.org/drawingml/2006/main" w="9525">
            <a:solidFill>
              <a:srgbClr val="1E3B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3291D-7CD7-457C-AD8E-F192CF65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123950"/>
            <a:ext cx="1066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065BB-364B-44E9-96CB-1C8DDC4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28775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8F43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9273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12143D-BEFD-4A0F-99C2-AD5BF430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F436"/>
                </a:solidFill>
              </a:defRPr>
            </a:pPr>
            <a:r>
              <a:rPr sz="975" b="1">
                <a:solidFill>
                  <a:srgbClr val="C8F436"/>
                </a:solidFill>
              </a:rPr>
              <a:t>OUR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1DC33-2817-45BD-9BD5-E0C07B52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Approve a four-week Indonesia pilot of SKUNIVO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5CDB2-DD45-41D9-AD82-3DCFE531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2CF"/>
                </a:solidFill>
              </a:defRPr>
            </a:pPr>
            <a:r>
              <a:rPr sz="1425" b="0">
                <a:solidFill>
                  <a:srgbClr val="B7C2CF"/>
                </a:solidFill>
              </a:rPr>
              <a:t>Use one weekly merchandising meeting to prove faster, more consistent and more accountable product triage.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4E169-CD13-4CCE-B65B-70F3CF9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F436"/>
                </a:solidFill>
              </a:defRPr>
            </a:pPr>
            <a:r>
              <a:rPr sz="1050" b="1">
                <a:solidFill>
                  <a:srgbClr val="C8F436"/>
                </a:solidFill>
              </a:rPr>
              <a:t>THE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2A607-10A1-4074-A3AC-785B9A3C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Turn 475 Indonesia listings into one auditable priority queue.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DAC27-33D1-46FA-A03F-4C380118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41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510C2-35BC-4877-BE02-12F0649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89D31-5C15-4226-8425-7CC220F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18BF3-A112-4D80-92FE-7DB6099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2CF"/>
                </a:solidFill>
              </a:defRPr>
            </a:pPr>
            <a:r>
              <a:rPr sz="1125" b="0">
                <a:solidFill>
                  <a:srgbClr val="B7C2CF"/>
                </a:solidFill>
              </a:rPr>
              <a:t>active-review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5A1C5-971A-4E07-A441-217D68A1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00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99C7B-F168-4171-86CC-18AEDCFA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58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02AA8-CFBE-4D9A-91A7-9E2A375B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482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2CF"/>
                </a:solidFill>
              </a:defRPr>
            </a:pPr>
            <a:r>
              <a:rPr sz="1125" b="0">
                <a:solidFill>
                  <a:srgbClr val="B7C2CF"/>
                </a:solidFill>
              </a:rPr>
              <a:t>shops in pilot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C9FFC-04A8-4B41-AE28-1378C128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09356-2816-4838-A987-9FCB2B82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958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0E86D-0E2E-45F0-98CD-25887001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482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2CF"/>
                </a:solidFill>
              </a:defRPr>
            </a:pPr>
            <a:r>
              <a:rPr sz="1125" b="0">
                <a:solidFill>
                  <a:srgbClr val="B7C2CF"/>
                </a:solidFill>
              </a:rPr>
              <a:t>platform categories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5CB80-4E6E-4F62-94B8-065D301D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4229100" cy="354330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CC2E7-A499-4E49-8024-49654602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WHO USES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34DAB-F9A5-48DC-8B65-C122E801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96D8C-B76A-4F0D-AB7B-1670A54E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Category and merchandising managers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EADE2-167B-47B7-A671-4475353B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1DF9B-F38D-4B82-9FE3-44B21578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18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Promotion planners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805A3-EDED-409C-9D45-BBEAD3B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F6F93-9DDF-40B9-B3BC-2EE397CA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Commercial analytics teams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B8592-9328-4EB8-92D1-58DE873A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81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WHAT THEY RECEIVE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2095E-8971-4BB5-8415-A5DEB1EA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0540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A ranked queue, recommendation, confidence, three reasons and a human decision 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B11DA-2B6B-4E9C-863D-0CF1095A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C8AE8-6658-45FC-98ED-AAE50663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1"/>
                </a:solidFill>
              </a:defRPr>
            </a:pPr>
            <a:r>
              <a:rPr sz="825" b="1">
                <a:solidFill>
                  <a:srgbClr val="9FB0C1"/>
                </a:solidFill>
              </a:rPr>
              <a:t>YOUNGHTT · TRACK 1 / TOPIC 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85E47-3C02-48EF-8F89-C7844BE4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194A7"/>
                </a:solidFill>
              </a:defRPr>
            </a:pPr>
            <a:r>
              <a:rPr sz="750" b="0">
                <a:solidFill>
                  <a:srgbClr val="8194A7"/>
                </a:solidFill>
              </a:rPr>
              <a:t>SKUNIVO analysis · July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2901A-20BC-495B-B2E5-CDA86ADB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F436"/>
                </a:solidFill>
              </a:defRPr>
            </a:pPr>
            <a:r>
              <a:rPr sz="900" b="1">
                <a:solidFill>
                  <a:srgbClr val="C8F43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296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6E5C7-BDB1-43F4-BFC8-0E9E3D3D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THE OPERATING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8C3E3-49CD-4D56-B526-5FAA31E9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A weekly review cannot treat every listing as equally urgent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D2C01-A3F9-4E7A-B508-2082BB4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The user does not need another dashboard; they need a defensible order of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AD875-B778-4C66-8F4C-A36B250C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4A4A"/>
                </a:solidFill>
              </a:defRPr>
            </a:pPr>
            <a:r>
              <a:rPr sz="1050" b="1">
                <a:solidFill>
                  <a:srgbClr val="C44A4A"/>
                </a:solidFill>
              </a:rPr>
              <a:t>BEFORE SKUNIVO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9676C-3F16-4719-8038-F48A68C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728"/>
                </a:solidFill>
              </a:defRPr>
            </a:pPr>
            <a:r>
              <a:rPr sz="3150" b="1">
                <a:solidFill>
                  <a:srgbClr val="0A1728"/>
                </a:solidFill>
              </a:rPr>
              <a:t>1,157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6FEC7-655D-42B5-B5D5-2D2F2487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listings compete for attention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B5859-2CB6-4269-B727-01C6961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1524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D4ABA-B334-4430-8827-D64D71C7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8B96"/>
                </a:solidFill>
              </a:defRPr>
            </a:pPr>
            <a:r>
              <a:rPr sz="1125" b="1">
                <a:solidFill>
                  <a:srgbClr val="188B96"/>
                </a:solidFill>
              </a:rPr>
              <a:t>PRICE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BB06C-4629-4FD7-ADE9-8F9F46F7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57400"/>
            <a:ext cx="1524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6DF7F-6DF8-4E1C-9B4C-970C1C4A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098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7A3A"/>
                </a:solidFill>
              </a:defRPr>
            </a:pPr>
            <a:r>
              <a:rPr sz="1125" b="1">
                <a:solidFill>
                  <a:srgbClr val="E77A3A"/>
                </a:solidFill>
              </a:rPr>
              <a:t>DISCOUNT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E93FF-FC01-4739-A0BC-3F19835B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24100"/>
            <a:ext cx="1524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6DACA-FF68-4B03-919F-66F9B1D9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70E8"/>
                </a:solidFill>
              </a:defRPr>
            </a:pPr>
            <a:r>
              <a:rPr sz="1125" b="1">
                <a:solidFill>
                  <a:srgbClr val="7C70E8"/>
                </a:solidFill>
              </a:rPr>
              <a:t>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7B4B7-E312-4178-A9C2-FB994092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1524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384D7-3096-44E6-AD8B-29411F4C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861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70E8"/>
                </a:solidFill>
              </a:defRPr>
            </a:pPr>
            <a:r>
              <a:rPr sz="1125" b="1">
                <a:solidFill>
                  <a:srgbClr val="7C70E8"/>
                </a:solidFill>
              </a:rPr>
              <a:t>LIKES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0CA62-C4FE-45CC-85B1-64CE949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2190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83F72-752C-4532-BA39-FC7AFDD5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8B96"/>
                </a:solidFill>
              </a:defRPr>
            </a:pPr>
            <a:r>
              <a:rPr sz="1125" b="1">
                <a:solidFill>
                  <a:srgbClr val="188B96"/>
                </a:solidFill>
              </a:rPr>
              <a:t>SOLD-VALUE PROXY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9EEEA-8C50-43F7-B4BC-4A418BFA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76750"/>
            <a:ext cx="2190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14109-DCE0-45E0-916B-16772C35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291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7A3A"/>
                </a:solidFill>
              </a:defRPr>
            </a:pPr>
            <a:r>
              <a:rPr sz="1125" b="1">
                <a:solidFill>
                  <a:srgbClr val="E77A3A"/>
                </a:solidFill>
              </a:rPr>
              <a:t>SHOP CREDIBILITY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04899-31B5-4776-84D0-BC1788CD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55F94-B2B3-4234-AA80-C3EBE900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Which hero SKU must be protected?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BF6DB-EEE7-4CCF-9DFE-0AD8DD5B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F5561-B747-4B5C-A3B7-2A889946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Which promotion deserves a test?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B4A18-A5A0-4DE2-98A9-A9A1D213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96A89-025D-4AD6-9D9F-93D32EE5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Which deep discount should be reviewed?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6DBCB-ECC5-4E1F-86EE-05A7CA5C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68B9B-E6CA-4ADD-9E84-FC209A25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14B41-4A3C-449A-9B9F-78B27841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3209D-5181-4EAD-BA07-4E9BD640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756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2E831-F5E2-4797-8259-A2FA41B6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FAC63-1EBD-4196-88D9-5C187B11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The data supports prioritization—not forecasting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A9DD6-522E-4E0B-BD27-03AA7B0E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The proposal is deliberately limited to decisions the current evidence can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7D8F6-BBB1-45E0-B568-F13F8A30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1,157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27E72-B8D4-44D1-AAFB-3DFDC15E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8F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2DAB5-2AFC-40C9-A67B-EB0984BC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latest listings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C16DC-B37A-4854-8A42-D550C9B9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33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EAB01-1C9D-4711-A76D-DB71D697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2245D-61A5-4EB9-84BC-3843541D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813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shops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CFEB0-3376-425B-991B-0E018DEA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654D2-3F56-4A4B-8494-4830666A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BCE31-9170-4687-804D-A9D6883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markets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E57BF-A636-4510-8242-DB3A510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3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FBB61-AC09-4AFD-AB4B-6DC7142F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88345-223E-455F-96A9-35BDC051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snapshot 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AE200-BFA0-4EC7-BB50-F35126A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3276600" cy="321945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70ECA-1543-4FB2-8BA6-4A49BA10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AVAILABLE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D855F-0850-42E2-8595-35A867F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B295F-0734-4945-BDDD-4673FD52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Price and displayed promotion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485E6-E061-4EF1-8EFF-736091F2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3D6C1-F756-41DD-B187-27A61B6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004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Ratings, volume and likes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55A-2F15-465E-ACA7-56748C5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86F31-68C2-4CB2-ABBD-F2D22FBF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95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Shop and category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CD028-1B54-4612-9BA7-49D4E0A1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4951B-ABC6-4658-9086-14A85FC0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910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1728"/>
                </a:solidFill>
              </a:defRPr>
            </a:pPr>
            <a:r>
              <a:rPr sz="1200" b="0">
                <a:solidFill>
                  <a:srgbClr val="0A1728"/>
                </a:solidFill>
              </a:rPr>
              <a:t>Sold-value proxies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E2E7C-F367-4D28-8D1C-05118E50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4A4A"/>
                </a:solidFill>
              </a:defRPr>
            </a:pPr>
            <a:r>
              <a:rPr sz="1050" b="1">
                <a:solidFill>
                  <a:srgbClr val="C44A4A"/>
                </a:solidFill>
              </a:rPr>
              <a:t>NOT 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B961CD-74D6-45EB-A781-C880E44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728"/>
                </a:solidFill>
              </a:defRPr>
            </a:pPr>
            <a:r>
              <a:rPr sz="1650" b="1">
                <a:solidFill>
                  <a:srgbClr val="0A1728"/>
                </a:solidFill>
              </a:rPr>
              <a:t>Orders · Customers · Costs · Inventory history · Ad spend · Realized revenue · Treatment/control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AFBE6-33CC-4975-BCCE-6F574FFF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4A4A"/>
                </a:solidFill>
              </a:defRPr>
            </a:pPr>
            <a:r>
              <a:rPr sz="1350" b="1">
                <a:solidFill>
                  <a:srgbClr val="C44A4A"/>
                </a:solidFill>
              </a:rPr>
              <a:t>No demand forecast, causal promotion lift, profit optimization or ROAS claim.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51ED0-2B75-42E0-A514-7C872C9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4D5974-8A83-4B5B-A93B-550AC07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91849D-ADC7-4919-96BA-FA29852C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B3EBF-346B-4657-8CC1-92DD69B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0272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942CDD-7088-47F4-996F-E54EDE21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PILOT MARKET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084A6-FF29-4044-8414-66DDABEB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Indonesia offers the clearest first decision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12371-C55A-4BE0-954C-25C97465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It contains 85% of the active-review queue and a materially deeper discount environment.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444AB-5BB1-4A38-8475-02317698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60579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D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3A84F-79E2-4762-A758-E7AB1C26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8B96"/>
                </a:solidFill>
              </a:defRPr>
            </a:pPr>
            <a:r>
              <a:rPr sz="1500" b="1">
                <a:solidFill>
                  <a:srgbClr val="188B96"/>
                </a:solidFill>
              </a:rPr>
              <a:t>INDONESIA · PILOT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6D5F1-45CA-42E8-A074-282B118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83 / 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60B3A-8921-495B-BB81-2F4E2EE6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DEE9A-12F0-4DFE-B580-306A8398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active-review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1E19D-909E-4CD4-BDAB-AEE41684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53%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8249-F94F-46A7-B8DD-8D90C37D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528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A08D4-7591-452A-9A47-3F442803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median displayed discount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008EA-6F06-4E25-93CF-B471FED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BE650-876E-43EE-8A55-7CBA0715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B906D-F52F-4E81-AE08-6ED78775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052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discount reviews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50E00-75F4-4BC5-862D-B2B76C4A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06362-5C00-438D-9C9D-48D64589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Grouped shop validation produces a usable rank benchmark.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746B5-B5FD-4E3B-829A-5F43A7FC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1E988-EBFB-4A38-B188-095B149B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The review problem is concentrated enough for a focused pilot.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0ABFA-C21E-4117-8C13-98653E79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19300"/>
            <a:ext cx="43053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BE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1EC1A-2E5D-4478-95BC-F8E0D289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7A3A"/>
                </a:solidFill>
              </a:defRPr>
            </a:pPr>
            <a:r>
              <a:rPr sz="1500" b="1">
                <a:solidFill>
                  <a:srgbClr val="E77A3A"/>
                </a:solidFill>
              </a:rPr>
              <a:t>VIETNAM · LEARN 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F644C-8075-48C9-A6E0-B4D956EF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15 / 98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FFB3D-135A-4BA5-B0A3-995B88F8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528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FCEF7-7EEB-405B-A6AF-4BF29EF3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active-review products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C91161-D220-4852-BC94-E495A24E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19%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C85F1-B4F8-472F-A0ED-8CF9A464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28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CBD86-5B8D-4BD6-85DD-422B7DB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052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median displayed discount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01FA4-35FF-4C2D-8442-7D617B08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1C9DD-8BBC-4165-9262-AB5025A5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Broader category coverage makes it a valuable second phase.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E911C7-36EF-404D-83FC-2FF2C8D5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91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27B49-E10E-459A-AB16-9B312FD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149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Lower shop-held-out rank quality requires cautious model confidence.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AC72EC-01DE-491D-99D6-BDFE6EDE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C53E6-7789-4A08-BBE2-CF35BAA8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0C984E-8CD1-4C9B-82F0-9CC5569E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D41D96-8F17-4037-AFCB-1FBB9509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3620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1703B-DEC8-4ED8-B004-511DBB4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F436"/>
                </a:solidFill>
              </a:defRPr>
            </a:pPr>
            <a:r>
              <a:rPr sz="975" b="1">
                <a:solidFill>
                  <a:srgbClr val="C8F436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B5F9D-2055-4CC3-86E8-32D82076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SKUNIVO converts signals into a governed decision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F066A-6270-4C11-AB0D-396DF98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2CF"/>
                </a:solidFill>
              </a:defRPr>
            </a:pPr>
            <a:r>
              <a:rPr sz="1425" b="0">
                <a:solidFill>
                  <a:srgbClr val="B7C2CF"/>
                </a:solidFill>
              </a:rPr>
              <a:t>The AI proposes evidence; a merchant remains accountable for the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F9BD9-C78D-4B73-8F17-D0E03676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F436"/>
                </a:solidFill>
              </a:defRPr>
            </a:pPr>
            <a:r>
              <a:rPr sz="2100" b="1">
                <a:solidFill>
                  <a:srgbClr val="C8F436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EB68B-1C1F-4D3D-851F-86A5B51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F436"/>
                </a:solidFill>
              </a:defRPr>
            </a:pPr>
            <a:r>
              <a:rPr sz="1350" b="1">
                <a:solidFill>
                  <a:srgbClr val="C8F43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857C7-0901-45F5-BB6F-D6DC1A53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AD3D9-77F5-4440-92E6-21C0947C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CF"/>
                </a:solidFill>
              </a:defRPr>
            </a:pPr>
            <a:r>
              <a:rPr sz="1200" b="0">
                <a:solidFill>
                  <a:srgbClr val="B7C2CF"/>
                </a:solidFill>
              </a:rPr>
              <a:t>Country + category peers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5C5B7-E14E-4CCD-8D79-CBC0D8CC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F436"/>
                </a:solidFill>
              </a:defRPr>
            </a:pPr>
            <a:r>
              <a:rPr sz="2100" b="1">
                <a:solidFill>
                  <a:srgbClr val="C8F43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1D435-B57E-4DC0-ADF8-C6D8B8AC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2885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F436"/>
                </a:solidFill>
              </a:defRPr>
            </a:pPr>
            <a:r>
              <a:rPr sz="1350" b="1">
                <a:solidFill>
                  <a:srgbClr val="C8F43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986D0-7FCB-41B9-A006-99A3A757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86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PRIORITIZE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D868D-8551-47BB-94A9-7B608EA8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337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CF"/>
                </a:solidFill>
              </a:defRPr>
            </a:pPr>
            <a:r>
              <a:rPr sz="1200" b="0">
                <a:solidFill>
                  <a:srgbClr val="B7C2CF"/>
                </a:solidFill>
              </a:rPr>
              <a:t>Transparent 0–100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54CCE-C9A3-45E0-AF2F-D1D0E771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F436"/>
                </a:solidFill>
              </a:defRPr>
            </a:pPr>
            <a:r>
              <a:rPr sz="2100" b="1">
                <a:solidFill>
                  <a:srgbClr val="C8F43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8513B-4FFB-40AE-80BD-E334C040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2885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F436"/>
                </a:solidFill>
              </a:defRPr>
            </a:pPr>
            <a:r>
              <a:rPr sz="1350" b="1">
                <a:solidFill>
                  <a:srgbClr val="C8F43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AF38D-003B-4B00-8878-4A6A4DD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CCC52-7E13-421B-BB05-8A66495B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337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CF"/>
                </a:solidFill>
              </a:defRPr>
            </a:pPr>
            <a:r>
              <a:rPr sz="1200" b="0">
                <a:solidFill>
                  <a:srgbClr val="B7C2CF"/>
                </a:solidFill>
              </a:rPr>
              <a:t>Three business reasons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EEAC1-2C52-44C1-A5EA-5946D3D6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F436"/>
                </a:solidFill>
              </a:defRPr>
            </a:pPr>
            <a:r>
              <a:rPr sz="2100" b="1">
                <a:solidFill>
                  <a:srgbClr val="C8F43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AE922-C6C1-4895-874E-49805E87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2885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F436"/>
                </a:solidFill>
              </a:defRPr>
            </a:pPr>
            <a:r>
              <a:rPr sz="1350" b="1">
                <a:solidFill>
                  <a:srgbClr val="C8F43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A8F97-6084-4422-801A-C800EDB7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86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6B87F-D5A0-4E2F-836F-6EDBA746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337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CF"/>
                </a:solidFill>
              </a:defRPr>
            </a:pPr>
            <a:r>
              <a:rPr sz="1200" b="0">
                <a:solidFill>
                  <a:srgbClr val="B7C2CF"/>
                </a:solidFill>
              </a:rPr>
              <a:t>Accept, override or defer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EAD5E-2DF1-48B2-9705-8A0C5E09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F436"/>
                </a:solidFill>
              </a:defRPr>
            </a:pPr>
            <a:r>
              <a:rPr sz="1350" b="1">
                <a:solidFill>
                  <a:srgbClr val="C8F436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0C709-469E-43A7-A006-C5B843A0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5142B-8304-4CCE-874E-D4B07EA2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3375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CF"/>
                </a:solidFill>
              </a:defRPr>
            </a:pPr>
            <a:r>
              <a:rPr sz="1200" b="0">
                <a:solidFill>
                  <a:srgbClr val="B7C2CF"/>
                </a:solidFill>
              </a:rPr>
              <a:t>Capture outcome + 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AD036-F4CB-465A-BC6E-B0F05FAC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75482-EE1B-4D44-9668-C9C9527B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F436"/>
                </a:solidFill>
              </a:defRPr>
            </a:pPr>
            <a:r>
              <a:rPr sz="975" b="1">
                <a:solidFill>
                  <a:srgbClr val="C8F436"/>
                </a:solidFill>
              </a:rPr>
              <a:t>BUSINESS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AE210-9FA9-4398-BEAE-75CC5DD6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One review queue for hero protection, promotion testing and discount-efficiency decisions.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A5E16-88AA-4DB6-889B-282BE6F8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96E32-2CB3-4137-B587-48C42762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1"/>
                </a:solidFill>
              </a:defRPr>
            </a:pPr>
            <a:r>
              <a:rPr sz="825" b="1">
                <a:solidFill>
                  <a:srgbClr val="9FB0C1"/>
                </a:solidFill>
              </a:rPr>
              <a:t>YOUNGHTT · TRACK 1 / TOPIC 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7E827-2C73-4687-BEF3-42A6DAC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194A7"/>
                </a:solidFill>
              </a:defRPr>
            </a:pPr>
            <a:r>
              <a:rPr sz="750" b="0">
                <a:solidFill>
                  <a:srgbClr val="8194A7"/>
                </a:solidFill>
              </a:rPr>
              <a:t>SKUNIVO analysis · July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BB4603-2169-403B-A9C9-39AA64D6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F436"/>
                </a:solidFill>
              </a:defRPr>
            </a:pPr>
            <a:r>
              <a:rPr sz="900" b="1">
                <a:solidFill>
                  <a:srgbClr val="C8F43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5855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DF49F-F90B-45C8-A2D2-7EF1A720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DECISION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0745B-1F74-4C73-BBBC-B4DA227F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SKUNIVO concentrates active review on 8.5% of listings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0564C-9E63-45C6-A9A5-29008333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The remaining portfolio stays visible but does not consume the same decision bandwidth.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69085da2b4a92"/>
          <a:stretch xmlns:a="http://schemas.openxmlformats.org/drawingml/2006/main"/>
        </p:blipFill>
        <p:spPr>
          <a:xfrm xmlns:a="http://schemas.openxmlformats.org/drawingml/2006/main">
            <a:off x="786342" y="1943100"/>
            <a:ext cx="6942667" cy="39052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C661-028D-4B4F-A6CC-0E25591C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44A4A"/>
                </a:solidFill>
              </a:defRPr>
            </a:pPr>
            <a:r>
              <a:rPr sz="3600" b="1">
                <a:solidFill>
                  <a:srgbClr val="C44A4A"/>
                </a:solidFill>
              </a:rPr>
              <a:t>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C791F-914E-4F71-BCE9-F11D88C0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products for active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192B0-97BE-4E12-BC8A-9C0BBEC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7A3A"/>
                </a:solidFill>
              </a:defRPr>
            </a:pPr>
            <a:r>
              <a:rPr sz="2400" b="1">
                <a:solidFill>
                  <a:srgbClr val="E77A3A"/>
                </a:solidFill>
              </a:rPr>
              <a:t>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157B7-BE22-4073-B907-A210C3A2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24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discount reviews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B5698-B561-458C-98ED-5DBA1136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8B96"/>
                </a:solidFill>
              </a:defRPr>
            </a:pPr>
            <a:r>
              <a:rPr sz="2400" b="1">
                <a:solidFill>
                  <a:srgbClr val="188B96"/>
                </a:solidFill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0D0D8-690C-48B6-9C0A-18905734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conversion opportunities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CC35A-964E-460A-BC49-2852B0CB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70E8"/>
                </a:solidFill>
              </a:defRPr>
            </a:pPr>
            <a:r>
              <a:rPr sz="2400" b="1">
                <a:solidFill>
                  <a:srgbClr val="7C70E8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24D2C-1C77-47F6-854E-C1685528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promotion test candidates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F2A2F-F8DE-4301-9467-A5F9BFA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9590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Recommendation labels guide review; they do not guarantee outcomes.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B8A36-D523-40C1-A611-F9C1C7FA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D2B28-CEDC-44DA-8525-F1278BC8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0A061-A315-486C-8F90-D6633FB9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EA8E6-6C64-46D7-8B20-27E0DEBA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2051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E0B35-3656-4BC0-B914-D9EFB95C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TRANSPARENT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90147-3FA8-4862-82D4-39E33077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Every score can be reconstructed, challenged and reweighted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9EE42-FF81-4050-8FCD-2D32594A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Six peer-relative components make the recommendation inspectable before any action is taken.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FAF53-2724-4A4D-8AA7-E8317BBF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8B96"/>
                </a:solidFill>
              </a:defRPr>
            </a:pPr>
            <a:r>
              <a:rPr sz="2175" b="1">
                <a:solidFill>
                  <a:srgbClr val="188B96"/>
                </a:solidFill>
              </a:rPr>
              <a:t>25%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412CD-D7BE-4DFD-B2F1-01A7990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19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Engagement strength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A1942-310F-4C98-892D-36A337E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77A3A"/>
                </a:solidFill>
              </a:defRPr>
            </a:pPr>
            <a:r>
              <a:rPr sz="2175" b="1">
                <a:solidFill>
                  <a:srgbClr val="E77A3A"/>
                </a:solidFill>
              </a:rPr>
              <a:t>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2FEAE-355C-4A85-BCC5-A3EE6ED8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Sold-value strength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14297-F2F4-401E-9805-241F2888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C70E8"/>
                </a:solidFill>
              </a:defRPr>
            </a:pPr>
            <a:r>
              <a:rPr sz="2175" b="1">
                <a:solidFill>
                  <a:srgbClr val="7C70E8"/>
                </a:solidFill>
              </a:rPr>
              <a:t>10%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FB25F-64AF-47CD-A720-6165905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1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Price competitiveness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29292-0AC4-467D-B27C-47E86BE6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8B96"/>
                </a:solidFill>
              </a:defRPr>
            </a:pPr>
            <a:r>
              <a:rPr sz="2175" b="1">
                <a:solidFill>
                  <a:srgbClr val="188B96"/>
                </a:solidFill>
              </a:rPr>
              <a:t>15%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C61A8-440E-4648-91D2-FFCD30C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Promotion efficiency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92D24-BBC7-4675-9D15-9EFC660F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77A3A"/>
                </a:solidFill>
              </a:defRPr>
            </a:pPr>
            <a:r>
              <a:rPr sz="2175" b="1">
                <a:solidFill>
                  <a:srgbClr val="E77A3A"/>
                </a:solidFill>
              </a:rPr>
              <a:t>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B8FC8-CE85-4143-9A93-8A2FB9A9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43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Shop credibility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A4A63-FC5E-46AF-89A7-19EE9AB3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C70E8"/>
                </a:solidFill>
              </a:defRPr>
            </a:pPr>
            <a:r>
              <a:rPr sz="2175" b="1">
                <a:solidFill>
                  <a:srgbClr val="7C70E8"/>
                </a:solidFill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7523F-A8B4-4E38-9159-321FCFB5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Conversion-gap opportunity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97e46493f49c7"/>
          <a:srcRect xmlns:a="http://schemas.openxmlformats.org/drawingml/2006/main" l="3819" t="0" r="38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5875" y="2000250"/>
            <a:ext cx="6334125" cy="385762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2790F-FB4B-443D-AD75-A5BBD5F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E7893-D4A3-457E-B95E-73C4ECE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A3850-81FD-4979-B338-51ECC42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FF13A-2E03-47A9-B672-6944614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2809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545E05-DFDF-4A81-A233-F46732A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DECISION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2204E-A3E0-4AFC-881F-98506A25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A 54% discount becomes a review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08021-70F9-477E-9CFD-ED089071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SKUNIVO does not recommend a deeper discount; it proposes a governed review of conflicting signals.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4F108-606E-4076-8ACB-E798CE1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3486150"/>
          </a:xfrm>
          <a:prstGeom xmlns:a="http://schemas.openxmlformats.org/drawingml/2006/main" prst="roundRect">
            <a:avLst>
              <a:gd name="adj" fmla="val 5464"/>
            </a:avLst>
          </a:prstGeom>
          <a:solidFill xmlns:a="http://schemas.openxmlformats.org/drawingml/2006/main">
            <a:srgbClr val="DD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4A8BA-D7B6-4C48-BDF2-79E9AFB1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LAVOJOY OFFICIAL 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0C31C-14A3-4A47-A1FA-1516C530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728"/>
                </a:solidFill>
              </a:defRPr>
            </a:pPr>
            <a:r>
              <a:rPr sz="1950" b="1">
                <a:solidFill>
                  <a:srgbClr val="0A1728"/>
                </a:solidFill>
              </a:rPr>
              <a:t>Let It Glow 10% Niacinamide Sunscreen Serum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5C2D6-107B-40E4-BBB1-27937464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54%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0225E-25E6-4268-B581-57C56441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D1B6-49F3-4E55-8849-2146F485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displayed discount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FCDF2-1060-4DBF-937F-A03568EE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49th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854E4-DF21-44D2-A573-AB0C6FA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767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09E25-BDCF-41EA-98DA-C8D459CA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291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likes percentile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5D0D2-EE0B-4015-ACBB-D6614CED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728"/>
                </a:solidFill>
              </a:defRPr>
            </a:pPr>
            <a:r>
              <a:rPr sz="2550" b="1">
                <a:solidFill>
                  <a:srgbClr val="0A1728"/>
                </a:solidFill>
              </a:rPr>
              <a:t>33rd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F7E63-949D-4C36-A590-FE86F5E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76700"/>
            <a:ext cx="4191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DD268-0C15-4AF5-B971-D85784CB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291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8"/>
                </a:solidFill>
              </a:defRPr>
            </a:pPr>
            <a:r>
              <a:rPr sz="1125" b="0">
                <a:solidFill>
                  <a:srgbClr val="5C6878"/>
                </a:solidFill>
              </a:rPr>
              <a:t>sold-value percentile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2B8D3-6F7F-4F6C-B758-14FC683E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6878"/>
                </a:solidFill>
              </a:defRPr>
            </a:pPr>
            <a:r>
              <a:rPr sz="1275" b="1">
                <a:solidFill>
                  <a:srgbClr val="5C6878"/>
                </a:solidFill>
              </a:rPr>
              <a:t>Opportunity score 37.70 · Medium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F537F-4973-44C5-A593-FCE1F070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SKUNIVO PROPOSES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4640A-AD8F-4589-917C-47B5964D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7A3A"/>
                </a:solidFill>
              </a:defRPr>
            </a:pPr>
            <a:r>
              <a:rPr sz="2250" b="1">
                <a:solidFill>
                  <a:srgbClr val="E77A3A"/>
                </a:solidFill>
              </a:rPr>
              <a:t>Discount Efficiency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BF3B8-C9FE-4A3F-A73C-9B74A9FE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617E9-5672-4770-9B26-B4F4C862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C4586-3AC2-4661-B612-5334F08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The current discount is deep, but peer-relative response is modest.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66A32-0F94-444B-8752-3F149851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C754C-7C6A-4346-AC40-4178B90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Do not deepen the discount before diagnosing content, availability and mechanism.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9886C-54B0-4CE1-A30C-70125A38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HUMAN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5E214-334B-4124-8FB4-D779FAD2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Approve a controlled review or override with a documented reason.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4288A-1B04-4010-B1A1-A2AA05A3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974AA-65DA-4005-AB5E-FC03E471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AFE32-D89F-4C45-9463-191CE994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765217-7D87-4451-A1E3-650E0DD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27481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2D37E-252A-4904-B718-6D386C2A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PROMOTION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ED597-4967-4C67-ACEE-24E28C7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Deep discount does not guarantee strong peer-relative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129D9-7E87-4303-8E50-638C3200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The pattern justifies a review queue; incrementality still requires an experiment.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217aad88e4bf3"/>
          <a:stretch xmlns:a="http://schemas.openxmlformats.org/drawingml/2006/main"/>
        </p:blipFill>
        <p:spPr>
          <a:xfrm xmlns:a="http://schemas.openxmlformats.org/drawingml/2006/main">
            <a:off x="759883" y="1866900"/>
            <a:ext cx="7281333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16149-61AC-41A4-8108-365BBD41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77A3A"/>
                </a:solidFill>
              </a:defRPr>
            </a:pPr>
            <a:r>
              <a:rPr sz="3450" b="1">
                <a:solidFill>
                  <a:srgbClr val="E77A3A"/>
                </a:solidFill>
              </a:rPr>
              <a:t>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755BC-1608-47D6-9EB2-C8D3F70A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05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discount-efficiency reviews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32306-6F48-4132-A65C-D845DBB2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19A71-1139-4892-8DE8-CB28FDE7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81 are in Indonesia.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00DE3-4A1C-4CFF-92AE-13409E4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29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B6DE2-8456-4A87-A13E-403C99C5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529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Only five products qualify as promotion test candidates.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2377B-30B7-4D41-8B6F-58A2EC6A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C16A2-1A85-43FD-9FB4-86564E26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958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Causal lift is explicitly out of scope until treatment/control data exists.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6C725-EBBA-4567-B140-FA4E08C0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B5C22-6622-45D7-B0A8-59FBC203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F10A8-D453-4E9B-8970-6928C7A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6B8B6-D906-4E0D-987E-A051C9BF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97340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A7973-B334-42E4-9329-76A77E86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HUMAN ACCOUNTABILITY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55638-9FBD-4DD6-8594-E0D6779B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AI proposes; merchants decide; overrides become learning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3A0DF-E5C3-400A-91C7-295BEB2C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The product explanation keeps evidence, confidence and business action in the same view.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1899e41b34de5"/>
          <a:srcRect xmlns:a="http://schemas.openxmlformats.org/drawingml/2006/main" l="4464" t="0" r="44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905000"/>
            <a:ext cx="6477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26A1E-0D73-4665-9CE3-641E9A6C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ONE DECISION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B62B2-8B92-4919-AD4E-2D565DFD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61730-38C4-438B-88BC-2DD9F4D1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Observed marketplace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CF72A-D652-498B-84B9-6B1228DA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C7F28-46AA-4F29-9457-F12AED7D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Peer percentile benchmarks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24126-3695-41B1-ADFA-4A1764A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92D8D-345F-4481-9C2C-73BE502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671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AI contextual benchmark and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FE98A-C7AA-4BAD-AD9E-31D5B0A3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98B78-9C01-4FA4-97E4-CB2A6FA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Accept, override or defer with a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C4E47-6F93-4837-924E-7D3C9DEA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768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4A4A"/>
                </a:solidFill>
              </a:defRPr>
            </a:pPr>
            <a:r>
              <a:rPr sz="1425" b="1">
                <a:solidFill>
                  <a:srgbClr val="C44A4A"/>
                </a:solidFill>
              </a:rPr>
              <a:t>This is decision support—not automatic execution.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A0DDC-B37F-4B3A-8D5F-E998FD85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3E31C-5954-41BF-A606-317AA4EA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26D2C-362B-4C15-9560-9ED5023E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BB720-1265-4C07-8BE6-2D2FC7AD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57952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D4F5B-B0B7-4462-BC0D-52FF24DA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F436"/>
                </a:solidFill>
              </a:defRPr>
            </a:pPr>
            <a:r>
              <a:rPr sz="975" b="1">
                <a:solidFill>
                  <a:srgbClr val="C8F436"/>
                </a:solidFill>
              </a:rPr>
              <a:t>AI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A188C-8ABE-44BD-8CC0-4A8F68FC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Two analytical tracks prevent the model from becoming 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2B05B-175F-4354-B8A0-39AEF38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2CF"/>
                </a:solidFill>
              </a:defRPr>
            </a:pPr>
            <a:r>
              <a:rPr sz="1425" b="0">
                <a:solidFill>
                  <a:srgbClr val="B7C2CF"/>
                </a:solidFill>
              </a:rPr>
              <a:t>The transparent score drives the queue; ML provides a contextual second opinion.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08577-6AC6-4423-AACB-A2D76473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048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2137"/>
          </a:solidFill>
          <a:ln xmlns:a="http://schemas.openxmlformats.org/drawingml/2006/main" w="9525">
            <a:solidFill>
              <a:srgbClr val="284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0DBAA-F5A1-4491-9EFE-A78C5354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436"/>
                </a:solidFill>
              </a:defRPr>
            </a:pPr>
            <a:r>
              <a:rPr sz="1125" b="1">
                <a:solidFill>
                  <a:srgbClr val="C8F436"/>
                </a:solidFill>
              </a:rPr>
              <a:t>OBSERVED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8D321-24D9-4692-B7A7-2543C1E1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38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Price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Promotion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Ratings &amp; likes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Shop credibility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Category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130E8-13E5-42A3-9DF3-ADCF73D9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956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F436"/>
                </a:solidFill>
              </a:defRPr>
            </a:pPr>
            <a:r>
              <a:rPr sz="2550" b="1">
                <a:solidFill>
                  <a:srgbClr val="C8F436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262E0-D613-4F43-A7D9-E491508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30099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24D"/>
          </a:solidFill>
          <a:ln xmlns:a="http://schemas.openxmlformats.org/drawingml/2006/main" w="9525">
            <a:solidFill>
              <a:srgbClr val="3654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787BE-EEF8-452B-85AF-BA11F897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8B96"/>
                </a:solidFill>
              </a:defRPr>
            </a:pPr>
            <a:r>
              <a:rPr sz="1125" b="1">
                <a:solidFill>
                  <a:srgbClr val="188B96"/>
                </a:solidFill>
              </a:rPr>
              <a:t>TRACK A · RULE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C01CA-DA10-4D66-A6FE-AB35B3D0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Transparent 0–100 score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Six auditable components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BEA0C-3012-4ED0-A6F5-27E02BD6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30099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2324D"/>
          </a:solidFill>
          <a:ln xmlns:a="http://schemas.openxmlformats.org/drawingml/2006/main" w="9525">
            <a:solidFill>
              <a:srgbClr val="3654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60517-7A41-4936-879F-8F2A7694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7A3A"/>
                </a:solidFill>
              </a:defRPr>
            </a:pPr>
            <a:r>
              <a:rPr sz="1125" b="1">
                <a:solidFill>
                  <a:srgbClr val="E77A3A"/>
                </a:solidFill>
              </a:rPr>
              <a:t>TRACK B · ML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40A30-C11D-4B77-A541-2B1B3103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577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Estimate contextual sold-value proxy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Grouped validation by shop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17847-AF27-4599-BD2E-34DE93C9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F436"/>
                </a:solidFill>
              </a:defRPr>
            </a:pPr>
            <a:r>
              <a:rPr sz="2550" b="1">
                <a:solidFill>
                  <a:srgbClr val="C8F43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0BEE1-75D5-450E-A2D2-C32234C6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52650"/>
            <a:ext cx="2952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B774D-5AD0-4D4D-B85D-07FCF71E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8B96"/>
                </a:solidFill>
              </a:defRPr>
            </a:pPr>
            <a:r>
              <a:rPr sz="1125" b="1">
                <a:solidFill>
                  <a:srgbClr val="188B96"/>
                </a:solidFill>
              </a:rPr>
              <a:t>DECISION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CF5E4-81CB-4688-878F-B9C1D3D6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2324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Ranked queue</a:t>
            </a:r>
          </a:p>
          <a:p xmlns:a="http://schemas.openxmlformats.org/drawingml/2006/main">
            <a:pPr algn="l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Recommendation label</a:t>
            </a:r>
          </a:p>
          <a:p xmlns:a="http://schemas.openxmlformats.org/drawingml/2006/main">
            <a:pPr algn="l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Confidence</a:t>
            </a:r>
          </a:p>
          <a:p xmlns:a="http://schemas.openxmlformats.org/drawingml/2006/main">
            <a:pPr algn="l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Three reasons</a:t>
            </a:r>
          </a:p>
          <a:p xmlns:a="http://schemas.openxmlformats.org/drawingml/2006/main">
            <a:pPr algn="l">
              <a:defRPr sz="1425" b="1">
                <a:solidFill>
                  <a:srgbClr val="0A1728"/>
                </a:solidFill>
              </a:defRPr>
            </a:pPr>
            <a:r>
              <a:rPr sz="1425" b="1">
                <a:solidFill>
                  <a:srgbClr val="0A1728"/>
                </a:solidFill>
              </a:rPr>
              <a:t>Human decision 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7DABB-AB52-4527-83DE-A309686A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1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15E71-C13D-413E-85BC-588B82C0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1"/>
                </a:solidFill>
              </a:defRPr>
            </a:pPr>
            <a:r>
              <a:rPr sz="825" b="1">
                <a:solidFill>
                  <a:srgbClr val="9FB0C1"/>
                </a:solidFill>
              </a:rPr>
              <a:t>YOUNGHTT · TRACK 1 / TOPIC 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31B07-78A6-47C0-81A3-273318B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194A7"/>
                </a:solidFill>
              </a:defRPr>
            </a:pPr>
            <a:r>
              <a:rPr sz="750" b="0">
                <a:solidFill>
                  <a:srgbClr val="8194A7"/>
                </a:solidFill>
              </a:rPr>
              <a:t>SKUNIVO analysis · July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EEFC1-B3F0-4039-BAF2-13F98C65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F436"/>
                </a:solidFill>
              </a:defRPr>
            </a:pPr>
            <a:r>
              <a:rPr sz="900" b="1">
                <a:solidFill>
                  <a:srgbClr val="C8F43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79950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D8A9C-932D-493F-A444-A2549F13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C88FB-39F5-4671-A0A0-B6880B9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Model performance supports Indonesia-first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EFA2F-7D01-4AF3-85BB-98C654B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All validation is grouped by shop; Vietnam remains visible with lower model confidence.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6d8c3d8f04f22"/>
          <a:stretch xmlns:a="http://schemas.openxmlformats.org/drawingml/2006/main"/>
        </p:blipFill>
        <p:spPr>
          <a:xfrm xmlns:a="http://schemas.openxmlformats.org/drawingml/2006/main">
            <a:off x="673100" y="1885950"/>
            <a:ext cx="7112000" cy="40005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BA9AE-6B98-48E6-8B17-4188A0C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8B96"/>
                </a:solidFill>
              </a:defRPr>
            </a:pPr>
            <a:r>
              <a:rPr sz="3150" b="1">
                <a:solidFill>
                  <a:srgbClr val="188B96"/>
                </a:solidFill>
              </a:rPr>
              <a:t>0.77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F680D-466D-4641-B691-B5684A07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Indonesia Spearman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602AE-9FDC-4D1D-8992-2E370BAB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77A3A"/>
                </a:solidFill>
              </a:defRPr>
            </a:pPr>
            <a:r>
              <a:rPr sz="3150" b="1">
                <a:solidFill>
                  <a:srgbClr val="E77A3A"/>
                </a:solidFill>
              </a:rPr>
              <a:t>0.35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1B456-C27A-48EB-AF21-F0FEA469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1728"/>
                </a:solidFill>
              </a:defRPr>
            </a:pPr>
            <a:r>
              <a:rPr sz="1350" b="1">
                <a:solidFill>
                  <a:srgbClr val="0A1728"/>
                </a:solidFill>
              </a:rPr>
              <a:t>Vietnam Spearman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23EF5-8D96-44C2-BC49-26A67D1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72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Deployment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86EA2-9D8A-40F6-9E12-8C98C55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4A4A"/>
                </a:solidFill>
              </a:defRPr>
            </a:pPr>
            <a:r>
              <a:rPr sz="1275" b="1">
                <a:solidFill>
                  <a:srgbClr val="C44A4A"/>
                </a:solidFill>
              </a:rPr>
              <a:t>Use the model as a benchmark in Indonesia; reduce confidence and keep rule-based explanations primary in Vietnam.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2C688-92F4-4175-812B-A044697A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C0EB0-FD1B-4168-9EED-E3556562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B4D4E-D236-4025-B601-0443E60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9F0D9-DCF4-44B7-AA09-08A18C0A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951927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9C958-76AA-4D89-BAFA-D4B6D14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F7613-1F77-4677-952C-E9193351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The ranking remains stable under strategic reweighting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24F5E-6C76-4DE7-9224-988B950E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Changing reasonable weights preserves overall order while adapting the top queue.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b9f22f86d4b13"/>
          <a:stretch xmlns:a="http://schemas.openxmlformats.org/drawingml/2006/main"/>
        </p:blipFill>
        <p:spPr>
          <a:xfrm xmlns:a="http://schemas.openxmlformats.org/drawingml/2006/main">
            <a:off x="712258" y="1847850"/>
            <a:ext cx="7281333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6FAEA-4061-4DB7-827C-3513763B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336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C70E8"/>
                </a:solidFill>
              </a:defRPr>
            </a:pPr>
            <a:r>
              <a:rPr sz="3150" b="1">
                <a:solidFill>
                  <a:srgbClr val="7C70E8"/>
                </a:solidFill>
              </a:rPr>
              <a:t>&gt;0.986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C6B6E-EF4A-4352-8238-317AE696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rank correlation vs. balanced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FD9F4-62B8-45C0-BDF8-0B28252E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8B96"/>
                </a:solidFill>
              </a:defRPr>
            </a:pPr>
            <a:r>
              <a:rPr sz="2850" b="1">
                <a:solidFill>
                  <a:srgbClr val="188B96"/>
                </a:solidFill>
              </a:rPr>
              <a:t>90%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53092-6BA7-4E79-8B9C-2D037DF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338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Indonesia top-20 overlap</a:t>
            </a:r>
          </a:p>
          <a:p xmlns:a="http://schemas.openxmlformats.org/drawingml/2006/main">
            <a:pPr algn="l">
              <a:defRPr sz="1275" b="1">
                <a:solidFill>
                  <a:srgbClr val="0A1728"/>
                </a:solidFill>
              </a:defRPr>
            </a:pPr>
            <a:r>
              <a:rPr sz="1275" b="1">
                <a:solidFill>
                  <a:srgbClr val="0A1728"/>
                </a:solidFill>
              </a:rPr>
              <a:t>under growth weighting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90003-1060-4924-9EC2-334C0BE9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05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Governance implication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041E8-C778-4CC5-89F1-971BE7F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102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878"/>
                </a:solidFill>
              </a:defRPr>
            </a:pPr>
            <a:r>
              <a:rPr sz="1200" b="1">
                <a:solidFill>
                  <a:srgbClr val="5C6878"/>
                </a:solidFill>
              </a:rPr>
              <a:t>Business owners may choose a preset, but every weight change remains visible and testable.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85BAA-39D9-40DC-BD13-36CA096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413EA-6337-44CF-A1D1-3BF2251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20009-203E-421B-AF91-AE171916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2C43B-910D-4473-9679-4067987B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672229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DE386-182E-4FD2-81D0-873F133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A4B7F-49A2-4517-AE1C-207CF6B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Operational discipline before revenue promises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9345C-8989-4716-8FCF-F97A1E19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The pilot measures whether better prioritization changes how decisions are made.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9CF8D-0C9A-4934-95BC-D58524BD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8B96"/>
                </a:solidFill>
              </a:defRPr>
            </a:pPr>
            <a:r>
              <a:rPr sz="1350" b="1">
                <a:solidFill>
                  <a:srgbClr val="188B96"/>
                </a:solidFill>
              </a:rPr>
              <a:t>FASTER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8BD97-D20F-43A5-8FE3-A2C0864D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8"/>
                </a:solidFill>
              </a:defRPr>
            </a:pPr>
            <a:r>
              <a:rPr sz="1875" b="1">
                <a:solidFill>
                  <a:srgbClr val="0A1728"/>
                </a:solidFill>
              </a:rPr>
              <a:t>Reduce time spent scanning low-priority listings.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BCCAD-AAF2-45CF-BBE2-9E0926D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A3A"/>
                </a:solidFill>
              </a:defRPr>
            </a:pPr>
            <a:r>
              <a:rPr sz="1350" b="1">
                <a:solidFill>
                  <a:srgbClr val="E77A3A"/>
                </a:solidFill>
              </a:rPr>
              <a:t>MORE CONSISTENT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696C2-0BA2-4A0C-A20B-123053E2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8"/>
                </a:solidFill>
              </a:defRPr>
            </a:pPr>
            <a:r>
              <a:rPr sz="1875" b="1">
                <a:solidFill>
                  <a:srgbClr val="0A1728"/>
                </a:solidFill>
              </a:rPr>
              <a:t>Apply the same peer logic across shops and categories.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07777-1CF8-4F5A-AA5C-41753CB7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70E8"/>
                </a:solidFill>
              </a:defRPr>
            </a:pPr>
            <a:r>
              <a:rPr sz="1350" b="1">
                <a:solidFill>
                  <a:srgbClr val="7C70E8"/>
                </a:solidFill>
              </a:rPr>
              <a:t>MORE ACCOUNTABLE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BBFA2-D180-46FB-A0D6-3A169B8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8"/>
                </a:solidFill>
              </a:defRPr>
            </a:pPr>
            <a:r>
              <a:rPr sz="1875" b="1">
                <a:solidFill>
                  <a:srgbClr val="0A1728"/>
                </a:solidFill>
              </a:rPr>
              <a:t>Record the evidence, owner and reason behind each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44AD7-F1A4-43BA-9D8A-BD0240C9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2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83822-A185-4EE3-82BF-99DB5B80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PILOT MEASURES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9B004-CD2E-45B8-9701-7CB4C909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4C4EB-1B9C-4ED8-9F0A-160698C6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Time-to-triage versus week-one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4E2E3-A447-4163-9255-0C0DCD0E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2AA6D-FDB5-4BD2-91B7-85FCE454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Recommendation accept / override / defer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B053C-1BF6-42FA-BE99-0106DF41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3969A-E3B6-4A84-AC5A-73074500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Explanation usefulness and user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DA1BB-770C-4DBE-8348-70C63E3A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EA0D5-471A-48B1-B196-7A95821E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1728"/>
                </a:solidFill>
              </a:defRPr>
            </a:pPr>
            <a:r>
              <a:rPr sz="1350" b="0">
                <a:solidFill>
                  <a:srgbClr val="0A1728"/>
                </a:solidFill>
              </a:rPr>
              <a:t>Number of testable hypotheses created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1B94D-8F34-4157-AE3A-D7583AF2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4A4A"/>
                </a:solidFill>
              </a:defRPr>
            </a:pPr>
            <a:r>
              <a:rPr sz="1275" b="1">
                <a:solidFill>
                  <a:srgbClr val="C44A4A"/>
                </a:solidFill>
              </a:rPr>
              <a:t>Financial impact becomes measurable after transaction, cost and experimental data are connected.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4CDFD-1762-4A4A-8F48-0EF506A0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86691-38D0-4581-8866-8FB85ADC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7B630-2581-4013-AEC6-DB914853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7C454-9D31-4A0E-B9EC-3291829D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596059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3D560-4F33-4CB1-9638-7668E46B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FA09A-9510-46B0-88F9-AB7282C3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The MVP is live today and the architecture can scale in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E2911-C721-47B4-8D5A-E16DE209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The pilot uses precomputed outputs; future phases can connect APIs and outcome data without redesigning the decision workflow.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d7754936a4de4"/>
          <a:srcRect xmlns:a="http://schemas.openxmlformats.org/drawingml/2006/main" l="6985" t="0" r="69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19300"/>
            <a:ext cx="4953000" cy="3238500"/>
          </a:xfrm>
          <a:prstGeom xmlns:a="http://schemas.openxmlformats.org/drawingml/2006/main" prst="roundRect">
            <a:avLst>
              <a:gd name="adj" fmla="val 529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6224D-EF3F-4ECE-869F-40BC7759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LIVE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0D173-BC55-4F42-B0BF-8751176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4BB9A-A385-419E-98AC-CA68B7B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Public Streamlit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1E19A-63E3-4449-9269-BB59FFFA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02FF0-2DB6-495B-8D77-DD20388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English and Vietnamese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988DA-FB53-495B-9AC1-718ED5BB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44E2A-54EA-4B37-B061-127FBEE6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Decision Log + Google Sheet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EC42F-5A0A-40D5-80C8-A4298E2D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</a:defRPr>
            </a:pPr>
            <a:r>
              <a:rPr sz="1050" b="1">
                <a:solidFill>
                  <a:srgbClr val="E77A3A"/>
                </a:solidFill>
              </a:rPr>
              <a:t>SCALE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0E394-E0DB-429F-BAD9-140FFAF6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559AE-5AE0-49B6-9F5C-57C5AECA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Scheduled marketplace ingestion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4E989-99F7-4C0B-90E8-E0E6A378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A125E-0876-411C-B716-4AA1C6C7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816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Warehouse/API integration and access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D37FA-7D43-4DB1-AA76-52B4771F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91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CE011-FE9E-4C43-B9E3-FD0F7928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150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1728"/>
                </a:solidFill>
              </a:defRPr>
            </a:pPr>
            <a:r>
              <a:rPr sz="1275" b="0">
                <a:solidFill>
                  <a:srgbClr val="0A1728"/>
                </a:solidFill>
              </a:rPr>
              <a:t>Outcome monitoring and model 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63641-2BE7-4BA7-8E24-59655E8E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8239C-5E77-46D7-A9D5-6B995A19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A2A9D-1F58-4AAA-91D1-F242D272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E1130-BD18-444E-9814-251E59F9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85784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6D8129-CBF1-463C-A279-766348B7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8B96"/>
                </a:solidFill>
              </a:defRPr>
            </a:pPr>
            <a:r>
              <a:rPr sz="975" b="1">
                <a:solidFill>
                  <a:srgbClr val="188B96"/>
                </a:solidFill>
              </a:rPr>
              <a:t>PILOT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787AA-A0A1-4895-B125-47F2A186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728"/>
                </a:solidFill>
              </a:defRPr>
            </a:pPr>
            <a:r>
              <a:rPr sz="2850" b="1">
                <a:solidFill>
                  <a:srgbClr val="0A1728"/>
                </a:solidFill>
              </a:rPr>
              <a:t>Four weeks are enough to validate adoption, efficiency and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B8213-F31D-4AA5-8B2E-5095B6B5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878"/>
                </a:solidFill>
              </a:defRPr>
            </a:pPr>
            <a:r>
              <a:rPr sz="1425" b="0">
                <a:solidFill>
                  <a:srgbClr val="5C6878"/>
                </a:solidFill>
              </a:rPr>
              <a:t>Each stage ends with evidence; automation only expands after the team passes the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66B27-C90C-4BB9-973D-8E248585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CE2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4CA17-73AA-4EE5-9AA9-E10B13A4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878"/>
                </a:solidFill>
              </a:defRPr>
            </a:pPr>
            <a:r>
              <a:rPr sz="1050" b="1">
                <a:solidFill>
                  <a:srgbClr val="5C6878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C21DC-096E-4C95-9855-4AA8AF58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728"/>
                </a:solidFill>
              </a:defRPr>
            </a:pPr>
            <a:r>
              <a:rPr sz="1800" b="1">
                <a:solidFill>
                  <a:srgbClr val="0A1728"/>
                </a:solidFill>
              </a:rPr>
              <a:t>Calibrate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DEFEB-1703-4A67-B19E-0A1BDB8D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A6F76-B3DE-4981-BBE5-E427BD32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Agree weights, labels and baseline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1FFBC-41A3-49A9-A671-FF0717C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878"/>
                </a:solidFill>
              </a:defRPr>
            </a:pPr>
            <a:r>
              <a:rPr sz="1050" b="1">
                <a:solidFill>
                  <a:srgbClr val="5C6878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81B22-B3C2-4E8B-9DB7-57E7649C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527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728"/>
                </a:solidFill>
              </a:defRPr>
            </a:pPr>
            <a:r>
              <a:rPr sz="1800" b="1">
                <a:solidFill>
                  <a:srgbClr val="0A1728"/>
                </a:solidFill>
              </a:rPr>
              <a:t>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AA50B-5625-41AC-9F3F-456AFA09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E017E-62F3-43C8-9B00-4B439399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338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Use SKUNIVO in the weekly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9D98D-CDE9-4902-A2C9-FD316142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878"/>
                </a:solidFill>
              </a:defRPr>
            </a:pPr>
            <a:r>
              <a:rPr sz="1050" b="1">
                <a:solidFill>
                  <a:srgbClr val="5C6878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95C96-32ED-4BFC-A20C-A14F6636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728"/>
                </a:solidFill>
              </a:defRPr>
            </a:pPr>
            <a:r>
              <a:rPr sz="1800" b="1">
                <a:solidFill>
                  <a:srgbClr val="0A1728"/>
                </a:solidFill>
              </a:rPr>
              <a:t>Decide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29DC3-A1A5-4045-82B3-3B654A74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7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B2FAE-AEE9-4C66-A10D-0C2D75F0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Accept, override or define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80DAB-D5BE-446B-BD89-4F3388CF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878"/>
                </a:solidFill>
              </a:defRPr>
            </a:pPr>
            <a:r>
              <a:rPr sz="1050" b="1">
                <a:solidFill>
                  <a:srgbClr val="5C6878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9C450-7381-4B00-A21B-6CCF45A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728"/>
                </a:solidFill>
              </a:defRPr>
            </a:pPr>
            <a:r>
              <a:rPr sz="1800" b="1">
                <a:solidFill>
                  <a:srgbClr val="0A1728"/>
                </a:solidFill>
              </a:rPr>
              <a:t>Evaluate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A5A35-E723-4CC6-B622-C0D707F6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7919D-C118-49B0-9C9B-9B6B53A9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878"/>
                </a:solidFill>
              </a:defRPr>
            </a:pPr>
            <a:r>
              <a:rPr sz="1200" b="0">
                <a:solidFill>
                  <a:srgbClr val="5C6878"/>
                </a:solidFill>
              </a:rPr>
              <a:t>Compare workflow metrics and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B4B24-F9DF-48CC-924D-0C1E04EE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PROPOSED SUCCESS 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999DB-4EC2-4D10-A050-B15DBA7D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728"/>
                </a:solidFill>
              </a:defRPr>
            </a:pPr>
            <a:r>
              <a:rPr sz="1500" b="1">
                <a:solidFill>
                  <a:srgbClr val="0A1728"/>
                </a:solidFill>
              </a:rPr>
              <a:t>≥70% decisions logged · ≥25% lower median triage time · ≥4/5 explanation usefulness · zero critical data-quality failures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267FF-0548-48F9-969F-8FA7A8D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A4A"/>
                </a:solidFill>
              </a:defRPr>
            </a:pPr>
            <a:r>
              <a:rPr sz="1200" b="1">
                <a:solidFill>
                  <a:srgbClr val="C44A4A"/>
                </a:solidFill>
              </a:rPr>
              <a:t>Targets are pilot criteria—not observed results—and should be confirmed with the operating team.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E606CA-7494-4A29-8B7C-DDDE327D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E703E-99ED-4B7F-8DDD-BCFC6B0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6878"/>
                </a:solidFill>
              </a:defRPr>
            </a:pPr>
            <a:r>
              <a:rPr sz="825" b="1">
                <a:solidFill>
                  <a:srgbClr val="5C6878"/>
                </a:solidFill>
              </a:rPr>
              <a:t>YOUNGHTT · TRACK 1 / TOPIC 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C2DD0-B339-4234-BA42-95A2139A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48090"/>
                </a:solidFill>
              </a:defRPr>
            </a:pPr>
            <a:r>
              <a:rPr sz="750" b="0">
                <a:solidFill>
                  <a:srgbClr val="748090"/>
                </a:solidFill>
              </a:rPr>
              <a:t>SKUNIVO analysis · July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A6B36-ED00-4D4E-8526-4236A8F3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88B96"/>
                </a:solidFill>
              </a:defRPr>
            </a:pPr>
            <a:r>
              <a:rPr sz="900" b="1">
                <a:solidFill>
                  <a:srgbClr val="188B96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268913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2f9cc74114850"/>
          <a:stretch xmlns:a="http://schemas.openxmlformats.org/drawingml/2006/main"/>
        </p:blipFill>
        <p:spPr>
          <a:xfrm xmlns:a="http://schemas.openxmlformats.org/drawingml/2006/main">
            <a:off x="723900" y="438150"/>
            <a:ext cx="2857500" cy="914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76926-FC9C-4319-979B-6D806523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436"/>
                </a:solidFill>
              </a:defRPr>
            </a:pPr>
            <a:r>
              <a:rPr sz="1125" b="1">
                <a:solidFill>
                  <a:srgbClr val="C8F436"/>
                </a:solidFill>
              </a:rPr>
              <a:t>THE DECISION WE ASK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28063-3666-4B51-99D7-911E8FC2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28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Approve one market.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One team. Four weeks.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10882-6C36-4B0A-9074-CB8613BC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8B96"/>
                </a:solidFill>
              </a:defRPr>
            </a:pPr>
            <a:r>
              <a:rPr sz="1050" b="1">
                <a:solidFill>
                  <a:srgbClr val="188B96"/>
                </a:solidFill>
              </a:rPr>
              <a:t>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54EE9-231B-4542-A3CB-3C95893F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Explainable prioritization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9F1EC-47C8-401A-8A9A-B3FDBD21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7A3A"/>
                </a:solidFill>
              </a:defRPr>
            </a:pPr>
            <a:r>
              <a:rPr sz="1050" b="1">
                <a:solidFill>
                  <a:srgbClr val="E77A3A"/>
                </a:solidFill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BF2CF-F964-4C43-9CB7-98FC768C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Add transactions + test flags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 lift measurement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D000F-B4C1-4D21-8069-FD812141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70E8"/>
                </a:solidFill>
              </a:defRPr>
            </a:pPr>
            <a:r>
              <a:rPr sz="1050" b="1">
                <a:solidFill>
                  <a:srgbClr val="7C70E8"/>
                </a:solidFill>
              </a:rPr>
              <a:t>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81E25-2130-42D8-8A3E-60D0F71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Add costs + inventory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 profit and stock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50674-0422-4122-AAAE-584A1026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1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1F8D5-75E8-4059-98A9-EE858C68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SKUNIVO should grow only when the evidence grows.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ABC0B-3966-427C-9E6E-F67F7EE9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ECC"/>
                </a:solidFill>
              </a:defRPr>
            </a:pPr>
            <a:r>
              <a:rPr sz="1125" b="0">
                <a:solidFill>
                  <a:srgbClr val="AEBECC"/>
                </a:solidFill>
              </a:rPr>
              <a:t>This prototype prioritizes products using observed marketplace signals. It does not estimate causal promotion lift or forecast transactional demand with the current three-day snapshot dataset.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0CC3D-788B-43E5-89C5-68614365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1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6E64D-22F0-4B43-B717-F3D7A439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0C1"/>
                </a:solidFill>
              </a:defRPr>
            </a:pPr>
            <a:r>
              <a:rPr sz="825" b="1">
                <a:solidFill>
                  <a:srgbClr val="9FB0C1"/>
                </a:solidFill>
              </a:rPr>
              <a:t>YOUNGHTT · TRACK 1 / TOPIC 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408AD-26FF-43D3-8122-912E9B92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2462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194A7"/>
                </a:solidFill>
              </a:defRPr>
            </a:pPr>
            <a:r>
              <a:rPr sz="750" b="0">
                <a:solidFill>
                  <a:srgbClr val="8194A7"/>
                </a:solidFill>
              </a:rPr>
              <a:t>skunivo.streamlit.app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F022A-441B-4F64-ACB4-9C3D455B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F436"/>
                </a:solidFill>
              </a:defRPr>
            </a:pPr>
            <a:r>
              <a:rPr sz="900" b="1">
                <a:solidFill>
                  <a:srgbClr val="C8F43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44271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2026-08-11T15:18:10.8360000Z</dcterms:created>
  <dcterms:modified xsi:type="dcterms:W3CDTF">2026-08-11T15:18:10.8370000Z</dcterms:modified>
</coreProperties>
</file>